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4219092626b4f3a" /><Relationship Type="http://schemas.openxmlformats.org/package/2006/relationships/metadata/core-properties" Target="/docProps/core.xml" Id="R9f7e42e19a5b484e" /><Relationship Type="http://schemas.openxmlformats.org/officeDocument/2006/relationships/extended-properties" Target="/docProps/app.xml" Id="R4a07d43de3004785" /><Relationship Type="http://schemas.openxmlformats.org/officeDocument/2006/relationships/custom-properties" Target="/docProps/custom.xml" Id="R18344463b3214fb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6e56a32ab0e41df"/>
    <p:sldId id="257" r:id="Rc4f29bd4ad9a413e"/>
    <p:sldId id="258" r:id="Rd1b2187fce2c4cd0"/>
    <p:sldId id="259" r:id="Rd29d680c9aee4c1a"/>
    <p:sldId id="260" r:id="Ra480f45aa2674235"/>
    <p:sldId id="261" r:id="R9b867db0c121470c"/>
    <p:sldId id="262" r:id="Reb51f0d151174cd0"/>
    <p:sldId id="263" r:id="R98eac2503ecf4ed4"/>
    <p:sldId id="264" r:id="R5c1b9a0f0de24e40"/>
    <p:sldId id="265" r:id="R35f777b3ceff4a9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6e56a32ab0e41df" /><Relationship Type="http://schemas.openxmlformats.org/officeDocument/2006/relationships/slide" Target="/ppt/slides/slide2.xml" Id="Rc4f29bd4ad9a413e" /><Relationship Type="http://schemas.openxmlformats.org/officeDocument/2006/relationships/slide" Target="/ppt/slides/slide3.xml" Id="Rd1b2187fce2c4cd0" /><Relationship Type="http://schemas.openxmlformats.org/officeDocument/2006/relationships/slide" Target="/ppt/slides/slide4.xml" Id="Rd29d680c9aee4c1a" /><Relationship Type="http://schemas.openxmlformats.org/officeDocument/2006/relationships/slide" Target="/ppt/slides/slide5.xml" Id="Ra480f45aa2674235" /><Relationship Type="http://schemas.openxmlformats.org/officeDocument/2006/relationships/slide" Target="/ppt/slides/slide6.xml" Id="R9b867db0c121470c" /><Relationship Type="http://schemas.openxmlformats.org/officeDocument/2006/relationships/slide" Target="/ppt/slides/slide7.xml" Id="Reb51f0d151174cd0" /><Relationship Type="http://schemas.openxmlformats.org/officeDocument/2006/relationships/slide" Target="/ppt/slides/slide8.xml" Id="R98eac2503ecf4ed4" /><Relationship Type="http://schemas.openxmlformats.org/officeDocument/2006/relationships/slide" Target="/ppt/slides/slide9.xml" Id="R5c1b9a0f0de24e40" /><Relationship Type="http://schemas.openxmlformats.org/officeDocument/2006/relationships/slide" Target="/ppt/slides/slide10.xml" Id="R35f777b3ceff4a9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38e221c2a4f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ab6649b1e46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ca28cc9f647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b068c44db47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4fef9b66a464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4148b3d296e438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a476519b9f346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0bb11bff0e48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1769e5f7e643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68bf9a6a70944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6c1fb18972f45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b09db7561e14d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11396550d2d4a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7c5f544e28741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691721e17fb45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7915be9837c41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360000" y="1080000"/>
            <a:ext cx="288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F4E79"/>
                </a:solidFill>
              </a:rPr>
              <a:t>JEV-TRADING — PROPOSED PROJECT PLAN</a:t>
            </a:r>
          </a:p>
          <a:p xmlns:a="http://schemas.openxmlformats.org/drawingml/2006/main">
            <a:r>
              <a:rPr lang="en-US" sz="2800" b="1">
                <a:solidFill>
                  <a:srgbClr val="1F4E79"/>
                </a:solidFill>
              </a:rPr>
              <a:t>Extend MVP to P8 / Shadow Live | 2026-09-23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360000" y="2160000"/>
            <a:ext cx="28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/>
              <a:t>Scope: P7 iterate (threshold grid, cost-aware policy, down-model) → P8 shadow validation → Tiny-live proposal.</a:t>
            </a:r>
          </a:p>
          <a:p xmlns:a="http://schemas.openxmlformats.org/drawingml/2006/main">
            <a:r>
              <a:rPr lang="en-US" sz="1400"/>
              <a:t>Source: workspace README / IMPLEMENTATION_PLAN / docs / contracts / execution / backtest / data / scripts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2" name="TextBox 1"/>
          <p:cNvSpPr txBox="1"/>
          <p:nvPr/>
        </p:nvSpPr>
        <p:spPr>
          <a:xfrm xmlns:a="http://schemas.openxmlformats.org/drawingml/2006/main">
            <a:off x="180000" y="180000"/>
            <a:ext cx="32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C000"/>
                </a:solidFill>
              </a:rPr>
              <a:t>PROJECT OVERVIEW &amp; CURRENT STATUS</a:t>
            </a:r>
          </a:p>
        </p:txBody>
      </p:sp>
      <p:sp>
        <p:nvSpPr>
          <p:cNvPr id="100003" name="TextBox 2"/>
          <p:cNvSpPr txBox="1"/>
          <p:nvPr/>
        </p:nvSpPr>
        <p:spPr>
          <a:xfrm xmlns:a="http://schemas.openxmlformats.org/drawingml/2006/main">
            <a:off x="180000" y="648000"/>
            <a:ext cx="32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• Pipeline: Live feed → State (16 features) → Quant (LightGBM AUC 0.637, ECE 0.01) → Jev(mock) → Policy → Risk (absolute) → PaperExec → JSONL replay</a:t>
            </a:r>
          </a:p>
          <a:p xmlns:a="http://schemas.openxmlformats.org/drawingml/2006/main">
            <a:r>
              <a:rPr lang="en-US" sz="1200"/>
              <a:t>• Data: 2,629,440 1m BTCUSDT perp rows [2021–2026], contiguous, 0 dupes</a:t>
            </a:r>
          </a:p>
          <a:p xmlns:a="http://schemas.openxmlformats.org/drawingml/2006/main">
            <a:r>
              <a:rPr lang="en-US" sz="1200"/>
              <a:t>• P0–P6 ✅ | P7 FAIL (net −0.35% at p_up≥0.55; 2–3× fees deepen) | P8 shadow validated live (4 bars, 0 entries consistent, latency 634–1548ms)</a:t>
            </a:r>
          </a:p>
          <a:p xmlns:a="http://schemas.openxmlformats.org/drawingml/2006/main">
            <a:r>
              <a:rPr lang="en-US" sz="1200"/>
              <a:t>• Next: 4–7 weeks to iterate thresholds / validate / propose promotion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180000" y="180000"/>
            <a:ext cx="32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C000"/>
                </a:solidFill>
              </a:rPr>
              <a:t>ARCHITECTURE — 6-LAYER FAST LOOP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180000" y="648000"/>
            <a:ext cx="32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L1 Data Ingest (Binance REST 1200w/min + WS + Kalshi/Polymarket)</a:t>
            </a:r>
          </a:p>
          <a:p xmlns:a="http://schemas.openxmlformats.org/drawingml/2006/main">
            <a:r>
              <a:rPr lang="en-US" sz="1100"/>
              <a:t>L2 State Engine (backward-only 16 feats + build_state_dict)</a:t>
            </a:r>
          </a:p>
          <a:p xmlns:a="http://schemas.openxmlformats.org/drawingml/2006/main">
            <a:r>
              <a:rPr lang="en-US" sz="1100"/>
              <a:t>L3 Quant Engine (LightGBM; y_up_15 / y_dn_15; threshold 0.0014 frozen)</a:t>
            </a:r>
          </a:p>
          <a:p xmlns:a="http://schemas.openxmlformats.org/drawingml/2006/main">
            <a:r>
              <a:rPr lang="en-US" sz="1100"/>
              <a:t>L4 Jev / Mock Client (5 MVP yes/no; TypeSafe protocol; position-aware P7)</a:t>
            </a:r>
          </a:p>
          <a:p xmlns:a="http://schemas.openxmlformats.org/drawingml/2006/main">
            <a:r>
              <a:rPr lang="en-US" sz="1100"/>
              <a:t>L5 Policy + Risk (threshold policy + audit reasons; deterministic RiskKernel; halt/gate)</a:t>
            </a:r>
          </a:p>
          <a:p xmlns:a="http://schemas.openxmlformats.org/drawingml/2006/main">
            <a:r>
              <a:rPr lang="en-US" sz="1100"/>
              <a:t>L6 Paper Execution (PaperTrader; next-open; replayable JSONL; zero real money)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6" name="TextBox 1"/>
          <p:cNvSpPr txBox="1"/>
          <p:nvPr/>
        </p:nvSpPr>
        <p:spPr>
          <a:xfrm xmlns:a="http://schemas.openxmlformats.org/drawingml/2006/main">
            <a:off x="180000" y="180000"/>
            <a:ext cx="32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C000"/>
                </a:solidFill>
              </a:rPr>
              <a:t>TOOL RESEARCH — ML, DATA &amp; APIs (Monid + Specs + Cost)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180000" y="648000"/>
            <a:ext cx="32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LightGBM — MIT / Microsoft / AUC 0.637 / ECE 0.01 / CPU ~1–3min train / $0</a:t>
            </a:r>
          </a:p>
          <a:p xmlns:a="http://schemas.openxmlformats.org/drawingml/2006/main">
            <a:r>
              <a:rPr lang="en-US" sz="1100"/>
              <a:t>NumPy/Pandas — BSD / 2.6M rows / RAM 4–8GB / $0</a:t>
            </a:r>
          </a:p>
          <a:p xmlns:a="http://schemas.openxmlformats.org/drawingml/2006/main">
            <a:r>
              <a:rPr lang="en-US" sz="1100"/>
              <a:t>Binance REST — Free / 1200 weight/min / 1m klines / $0</a:t>
            </a:r>
          </a:p>
          <a:p xmlns:a="http://schemas.openxmlformats.org/drawingml/2006/main">
            <a:r>
              <a:rPr lang="en-US" sz="1100"/>
              <a:t>Binance WS — Free / real-time / ~5 conn/min / $0</a:t>
            </a:r>
          </a:p>
          <a:p xmlns:a="http://schemas.openxmlformats.org/drawingml/2006/main">
            <a:r>
              <a:rPr lang="en-US" sz="1100"/>
              <a:t>Polymarket/Kalshi — Free read / PM_COLUMNS / warn-and-continue / $0</a:t>
            </a:r>
          </a:p>
          <a:p xmlns:a="http://schemas.openxmlformats.org/drawingml/2006/main">
            <a:r>
              <a:rPr lang="en-US" sz="1100"/>
              <a:t>Scikit-learn — BSD / baselines A–E / $0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8" name="TextBox 1"/>
          <p:cNvSpPr txBox="1"/>
          <p:nvPr/>
        </p:nvSpPr>
        <p:spPr>
          <a:xfrm xmlns:a="http://schemas.openxmlformats.org/drawingml/2006/main">
            <a:off x="180000" y="180000"/>
            <a:ext cx="32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C000"/>
                </a:solidFill>
              </a:rPr>
              <a:t>TOOL RESEARCH — UI, EXECUTION &amp; OFFICE CLI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180000" y="648000"/>
            <a:ext cx="32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Streamlit — Apache 2 / dashboard / free tier + ~$5/mo paid / $0 local</a:t>
            </a:r>
          </a:p>
          <a:p xmlns:a="http://schemas.openxmlformats.org/drawingml/2006/main">
            <a:r>
              <a:rPr lang="en-US" sz="1100"/>
              <a:t>PaperTrader (execution/) — Project / zero real money / JSONL replay / 634–1548ms/bar / $0</a:t>
            </a:r>
          </a:p>
          <a:p xmlns:a="http://schemas.openxmlformats.org/drawingml/2006/main">
            <a:r>
              <a:rPr lang="en-US" sz="1100"/>
              <a:t>Backtest Simulator — Project / BAR→STATE→QUANT→JEV→POLICY→RISK→ORDER / CPU hours / $0</a:t>
            </a:r>
          </a:p>
          <a:p xmlns:a="http://schemas.openxmlformats.org/drawingml/2006/main">
            <a:r>
              <a:rPr lang="en-US" sz="1100"/>
              <a:t>officecli v1.0.151 — CLI / .xlsx/.pptx create/edit/batch / $0 (this deliverable)</a:t>
            </a:r>
          </a:p>
          <a:p xmlns:a="http://schemas.openxmlformats.org/drawingml/2006/main">
            <a:r>
              <a:rPr lang="en-US" sz="1100"/>
              <a:t>Python 3.12 / PyArrow / requests — PSF/Apache / $0</a:t>
            </a:r>
          </a:p>
          <a:p xmlns:a="http://schemas.openxmlformats.org/drawingml/2006/main">
            <a:r>
              <a:rPr lang="en-US" sz="1100"/>
              <a:t>Monitoring: Prometheus/Grafana self-host ~$15/mo or Datadog ~$30/mo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0" name="TextBox 1"/>
          <p:cNvSpPr txBox="1"/>
          <p:nvPr/>
        </p:nvSpPr>
        <p:spPr>
          <a:xfrm xmlns:a="http://schemas.openxmlformats.org/drawingml/2006/main">
            <a:off x="180000" y="180000"/>
            <a:ext cx="32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C000"/>
                </a:solidFill>
              </a:rPr>
              <a:t>RESOURCES &amp; HARDWARE RECOMMENDATIONS</a:t>
            </a:r>
          </a:p>
        </p:txBody>
      </p:sp>
      <p:sp>
        <p:nvSpPr>
          <p:cNvPr id="100011" name="TextBox 2"/>
          <p:cNvSpPr txBox="1"/>
          <p:nvPr/>
        </p:nvSpPr>
        <p:spPr>
          <a:xfrm xmlns:a="http://schemas.openxmlformats.org/drawingml/2006/main">
            <a:off x="180000" y="648000"/>
            <a:ext cx="32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Dev / Shadow: 8-core CPU / 32GB RAM / 1TB NVMe (existing) / $2,000 one-time</a:t>
            </a:r>
          </a:p>
          <a:p xmlns:a="http://schemas.openxmlformats.org/drawingml/2006/main">
            <a:r>
              <a:rPr lang="en-US" sz="1100"/>
              <a:t>Shadow Server: AWS t3.medium (2 vCPU / 4GB) / ~$30/mo / us-east-1</a:t>
            </a:r>
          </a:p>
          <a:p xmlns:a="http://schemas.openxmlformats.org/drawingml/2006/main">
            <a:r>
              <a:rPr lang="en-US" sz="1100"/>
              <a:t>Tiny-Live (post-P7): AWS c6i.large (2 vCPU / 4GB) / ~$62/mo / 100GB SSD</a:t>
            </a:r>
          </a:p>
          <a:p xmlns:a="http://schemas.openxmlformats.org/drawingml/2006/main">
            <a:r>
              <a:rPr lang="en-US" sz="1100"/>
              <a:t>Storage: Local 1TB + S3 500GB backup / ~$11/mo</a:t>
            </a:r>
          </a:p>
          <a:p xmlns:a="http://schemas.openxmlformats.org/drawingml/2006/main">
            <a:r>
              <a:rPr lang="en-US" sz="1100"/>
              <a:t>Network: Broadband + static IP / VPN / ~$10/mo</a:t>
            </a:r>
          </a:p>
          <a:p xmlns:a="http://schemas.openxmlformats.org/drawingml/2006/main">
            <a:r>
              <a:rPr lang="en-US" sz="1100"/>
              <a:t>GPU (deferred): NVIDIA T4 / A10 / ~$250–600/mo ONLY if P7 justifies deep model</a:t>
            </a:r>
          </a:p>
          <a:p xmlns:a="http://schemas.openxmlformats.org/drawingml/2006/main">
            <a:r>
              <a:rPr lang="en-US" sz="1100"/>
              <a:t>Total Shadow: ~$65–100/mo | Tiny-Live: ~$120–180/mo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2" name="TextBox 1"/>
          <p:cNvSpPr txBox="1"/>
          <p:nvPr/>
        </p:nvSpPr>
        <p:spPr>
          <a:xfrm xmlns:a="http://schemas.openxmlformats.org/drawingml/2006/main">
            <a:off x="180000" y="180000"/>
            <a:ext cx="32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C000"/>
                </a:solidFill>
              </a:rPr>
              <a:t>RUNNING COSTS — MONTHLY BREAKDOWN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180000" y="648000"/>
            <a:ext cx="32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Compute (t3.medium shadow): $30  |  Compute (c6i.large live): $62</a:t>
            </a:r>
          </a:p>
          <a:p xmlns:a="http://schemas.openxmlformats.org/drawingml/2006/main">
            <a:r>
              <a:rPr lang="en-US" sz="1100"/>
              <a:t>Storage S3 500GB: $11  |  Monitoring (self): $15  |  Networking: $10</a:t>
            </a:r>
          </a:p>
          <a:p xmlns:a="http://schemas.openxmlformats.org/drawingml/2006/main">
            <a:r>
              <a:rPr lang="en-US" sz="1100"/>
              <a:t>Software (LightGBM/NumPy/Sklearn/Streamlit/community): $0–5</a:t>
            </a:r>
          </a:p>
          <a:p xmlns:a="http://schemas.openxmlformats.org/drawingml/2006/main">
            <a:r>
              <a:rPr lang="en-US" sz="1100"/>
              <a:t>Data APIs (Binance/Polymarket/Kalshi): $0</a:t>
            </a:r>
          </a:p>
          <a:p xmlns:a="http://schemas.openxmlformats.org/drawingml/2006/main">
            <a:r>
              <a:rPr lang="en-US" sz="1100"/>
              <a:t>officecli / openpyxl / python-pptx: $0</a:t>
            </a:r>
          </a:p>
          <a:p xmlns:a="http://schemas.openxmlformats.org/drawingml/2006/main">
            <a:r>
              <a:rPr lang="en-US" sz="1100"/>
              <a:t>Base Shadow: ~$65/mo  |  High Shadow: ~$100/mo  |  Tiny-Live Low: ~$120/mo  |  Tiny-Live High: ~$180/mo (with GPU deferred + Datadog)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4" name="TextBox 1"/>
          <p:cNvSpPr txBox="1"/>
          <p:nvPr/>
        </p:nvSpPr>
        <p:spPr>
          <a:xfrm xmlns:a="http://schemas.openxmlformats.org/drawingml/2006/main">
            <a:off x="180000" y="180000"/>
            <a:ext cx="32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C000"/>
                </a:solidFill>
              </a:rPr>
              <a:t>TIMELINE — P7 ITERATE → P8 PROMOTION</a:t>
            </a:r>
          </a:p>
        </p:txBody>
      </p:sp>
      <p:sp>
        <p:nvSpPr>
          <p:cNvPr id="100015" name="TextBox 2"/>
          <p:cNvSpPr txBox="1"/>
          <p:nvPr/>
        </p:nvSpPr>
        <p:spPr>
          <a:xfrm xmlns:a="http://schemas.openxmlformats.org/drawingml/2006/main">
            <a:off x="180000" y="648000"/>
            <a:ext cx="32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Week 1–2 — P7.1 Iterate thresholds (sweep 0.30→0.55; turnover reduction; cost-aware sizing)</a:t>
            </a:r>
          </a:p>
          <a:p xmlns:a="http://schemas.openxmlformats.org/drawingml/2006/main">
            <a:r>
              <a:rPr lang="en-US" sz="1100"/>
              <a:t>Week 3 — P7.2 Cost-aware policy + down-model (p_dn_15 producer or safe 0.0 default)</a:t>
            </a:r>
          </a:p>
          <a:p xmlns:a="http://schemas.openxmlformats.org/drawingml/2006/main">
            <a:r>
              <a:rPr lang="en-US" sz="1100"/>
              <a:t>Week 4–5 — P7.3 Shadow validation (2+ weeks live match; latency &lt;2s; 0 errors; replay verified)</a:t>
            </a:r>
          </a:p>
          <a:p xmlns:a="http://schemas.openxmlformats.org/drawingml/2006/main">
            <a:r>
              <a:rPr lang="en-US" sz="1100"/>
              <a:t>Week 6 — P8.1 Paper live (zero real money; JSONL; halt/gate enforced; no dead risk keys)</a:t>
            </a:r>
          </a:p>
          <a:p xmlns:a="http://schemas.openxmlformats.org/drawingml/2006/main">
            <a:r>
              <a:rPr lang="en-US" sz="1100"/>
              <a:t>Week 7 — P8.2 Tiny-live proposal (this PPT + Excel; cost audit; compliance; investor/user approval)</a:t>
            </a:r>
          </a:p>
          <a:p xmlns:a="http://schemas.openxmlformats.org/drawingml/2006/main">
            <a:r>
              <a:rPr lang="en-US" sz="1100"/>
              <a:t>Estimated total: 4–7 weeks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6" name="TextBox 1"/>
          <p:cNvSpPr txBox="1"/>
          <p:nvPr/>
        </p:nvSpPr>
        <p:spPr>
          <a:xfrm xmlns:a="http://schemas.openxmlformats.org/drawingml/2006/main">
            <a:off x="180000" y="180000"/>
            <a:ext cx="32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C000"/>
                </a:solidFill>
              </a:rPr>
              <a:t>RISK, GATES &amp; MITIGATION</a:t>
            </a:r>
          </a:p>
        </p:txBody>
      </p:sp>
      <p:sp>
        <p:nvSpPr>
          <p:cNvPr id="100017" name="TextBox 2"/>
          <p:cNvSpPr txBox="1"/>
          <p:nvPr/>
        </p:nvSpPr>
        <p:spPr>
          <a:xfrm xmlns:a="http://schemas.openxmlformats.org/drawingml/2006/main">
            <a:off x="180000" y="648000"/>
            <a:ext cx="32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P4 Quant: PASS — LightGBM AUC 0.637 / ECE 0.01; baselines A–E validated; no leakage (chronological split + purge/embargo)</a:t>
            </a:r>
          </a:p>
          <a:p xmlns:a="http://schemas.openxmlformats.org/drawingml/2006/main">
            <a:r>
              <a:rPr lang="en-US" sz="1100"/>
              <a:t>P7 Cost Survival: FAIL — Net negative at high confidence; 2–3× fees deepen linearly; need lower turnover or cost-aware sizing</a:t>
            </a:r>
          </a:p>
          <a:p xmlns:a="http://schemas.openxmlformats.org/drawingml/2006/main">
            <a:r>
              <a:rPr lang="en-US" sz="1100"/>
              <a:t>P8 Live Match: PASS — Pipeline end-to-end valid; latency 634–1548ms; JSONL hash-verified; consistent with P7 verdict (no entries at p_up~0.13–0.15 vs 0.40 threshold)</a:t>
            </a:r>
          </a:p>
          <a:p xmlns:a="http://schemas.openxmlformats.org/drawingml/2006/main">
            <a:r>
              <a:rPr lang="en-US" sz="1100"/>
              <a:t>Mitigation: Reduce turnover; threshold grid starting 0.30 (446→189,950 fires); wire costs.json into policy; add p_dn_15 before promotion; enforce all RiskConfig keys (remove dead min_depth/max_open until wired)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180000" y="180000"/>
            <a:ext cx="32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C000"/>
                </a:solidFill>
              </a:rPr>
              <a:t>CONCLUSIONS &amp; NEXT STEPS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180000" y="648000"/>
            <a:ext cx="32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✅ Engineering complete (P0–P6); shadow pipeline validated (P8.1)</a:t>
            </a:r>
          </a:p>
          <a:p xmlns:a="http://schemas.openxmlformats.org/drawingml/2006/main">
            <a:r>
              <a:rPr lang="en-US" sz="1100"/>
              <a:t>❌ Trading edge does NOT survive current cost structure (P7 FAIL) — this is a successful experiment (no false promotion)</a:t>
            </a:r>
          </a:p>
          <a:p xmlns:a="http://schemas.openxmlformats.org/drawingml/2006/main">
            <a:r>
              <a:rPr lang="en-US" sz="1100"/>
              <a:t>➡ Next: Iterate P7 with lower turnover / cost-aware sizing / down-model; re-run hostile 2–3× gate; confirm net positive</a:t>
            </a:r>
          </a:p>
          <a:p xmlns:a="http://schemas.openxmlformats.org/drawingml/2006/main">
            <a:r>
              <a:rPr lang="en-US" sz="1100"/>
              <a:t>➡ Only then: Promote to P8 live paper → tiny-live → proposal / investment / compliance review</a:t>
            </a:r>
          </a:p>
          <a:p xmlns:a="http://schemas.openxmlformats.org/drawingml/2006/main">
            <a:r>
              <a:rPr lang="en-US" sz="1100"/>
              <a:t>Deliverables: PROPOSED_PLAN.md | jev-trading-plan.xlsx (5 sheets) | jev-trading-plan.pptx (10 slides) — all built via officecli v1.0.151 + monid research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2026-09-23T03:36:51Z</dcterms:created>
  <cp:lastModifiedBy>OfficeCLI</cp:lastModifiedBy>
  <dcterms:modified xsi:type="dcterms:W3CDTF">2026-09-23T03:36:51Z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2026-09-23T03:38:12Z</vt:lpwstr>
  </op:property>
</op:Properties>
</file>